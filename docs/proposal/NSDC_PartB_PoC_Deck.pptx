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Substrate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foundation for SIDH Part B — measured, governed, sovereign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BID NO GEM/2026/B/7635371 · Part B §4.B · PoC evidence pack · July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demo — a substrate: every answer cited, every access role-scoped, every action audited.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asks for a platform, not a chatbot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sovereign AI architecture: knowledge graph, Indic corpora, Graph-RAG, sovereign models, 11 AI surfaces, agentic orchestration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contractual guarantees: 100% retrieval citations (KPI 7.2.4), &lt;2% hallucination (7.2.2), P95 &lt;1s (7.2.1), DPDP purpose-binding, complete auditability (4.B.11d)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indigenous stack: Sarvam 30B/105B, Saaras ASR, Bulbul TTS, Bhashini — sovereignty is the point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Q1–Q6 milestone calendar with quarterly acceptance gates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EEF2F8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the guarantees ONCE in the substrate.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 — Mentor, Copilots, PASE, dashboards — inherits citations, RBAC, consent and audit for free.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proves the substrate wins the technical evaluation.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built on our hardened Sarvam platform</a:t>
            </a:r>
            <a:endParaRPr lang="en-US" sz="3000" dirty="0"/>
          </a:p>
        </p:txBody>
      </p:sp>
      <p:pic>
        <p:nvPicPr>
          <p:cNvPr id="3" name="Image 0" descr="/sessions/brave-bold-noether/mnt/NSDC/nsdc_poc_on_phase6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143000"/>
            <a:ext cx="64922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reused hardened platform · purple = new substrate build · amber = adapted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11480" y="13716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1F5E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" y="14813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" y="181051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ledger, signed audit, PII redaction, multi-LLM (Sarvam), voice, WhatsApp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292608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EEDF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30358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" y="336499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graph, hybrid Graph-RAG, citation gates, eval harness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0" y="137160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FAEEDA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65792" y="14813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765792" y="181051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 with jurisdiction, skilling events from records engine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601200" y="2926080"/>
            <a:ext cx="2194560" cy="1371600"/>
          </a:xfrm>
          <a:prstGeom prst="roundRect">
            <a:avLst>
              <a:gd name="adj" fmla="val 4667"/>
            </a:avLst>
          </a:prstGeom>
          <a:solidFill>
            <a:srgbClr val="EEF2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65792" y="303580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65792" y="3364992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 saved; governance pre-hardened, not promised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passes four gates</a:t>
            </a:r>
            <a:endParaRPr lang="en-US" sz="3000" dirty="0"/>
          </a:p>
        </p:txBody>
      </p:sp>
      <p:pic>
        <p:nvPicPr>
          <p:cNvPr id="3" name="Image 0" descr="/sessions/brave-bold-noether/mnt/NSDC/graph_rag_citation_pipelin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4206240" cy="5394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FAECE7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138988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Safety gate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171907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Discriminatory &amp; PII-harvest requests refused before retrieval (EN+HI)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FAECE7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271576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Evidence gate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304495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 decided on retrieval scores — not model honesty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0" y="128016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FAECE7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68512" y="138988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Citation hard gate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68512" y="171907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Uncited claims block the answer; cited IDs validated against evidence (spoof-proof)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03920" y="2606040"/>
            <a:ext cx="3200400" cy="1143000"/>
          </a:xfrm>
          <a:prstGeom prst="roundRect">
            <a:avLst>
              <a:gd name="adj" fmla="val 5600"/>
            </a:avLst>
          </a:prstGeom>
          <a:solidFill>
            <a:srgbClr val="FAECE7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68512" y="271576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Async judge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68512" y="3044952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scored on 100% of traffic without touching P95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503920" y="3931920"/>
            <a:ext cx="3200400" cy="12801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68512" y="404164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quarantine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68512" y="4370832"/>
            <a:ext cx="2871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payloads neutralised at ingestion — a red-team plant document proves it on every build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promised — gold-set baseline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727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completeness (KPI 7.2.4)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5727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2044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injection refusal (adversarial, via real API)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727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correctness on expected-refuse items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89720" y="14630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9720" y="15727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8116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P95 (offline floor config)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10972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40-item versioned gold set, written BEFORE the pipeline was built (eval-first)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injection categories executed through the authenticated HTTP API with per-persona tokens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entities across all runs — the failure mode is conservative refusal, never invention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failures are published &amp; attributed: 10 of 12 close when the multilingual vector leg activates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(KPI 7.2.2): measured by the async judge once live model is enabled — we show the enforcement mechanism, not an unverifiable number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personas working today — one substrate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4206240"/>
          </a:xfrm>
          <a:prstGeom prst="roundRect">
            <a:avLst>
              <a:gd name="adj" fmla="val 1750"/>
            </a:avLst>
          </a:prstGeom>
          <a:solidFill>
            <a:srgbClr val="EEF2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481328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 · Learner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33284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pathway guidance, EN + HI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Per-claim citation chips + KG pathway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'no evidence' refusals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thumbs feed the eval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657600" cy="4206240"/>
          </a:xfrm>
          <a:prstGeom prst="roundRect">
            <a:avLst>
              <a:gd name="adj" fmla="val 1750"/>
            </a:avLst>
          </a:prstGeom>
          <a:solidFill>
            <a:srgbClr val="E1F5E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481328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· Officer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1810512"/>
            <a:ext cx="33284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Jurisdiction-scoped analytics — model never writes SQL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planted anomaly: attendance 78% → 61% last-30d ⚠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cannot widen scope (token-injected WHERE clause)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draft notes: human decides, immutable after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371600"/>
            <a:ext cx="3657600" cy="4206240"/>
          </a:xfrm>
          <a:prstGeom prst="roundRect">
            <a:avLst>
              <a:gd name="adj" fmla="val 1750"/>
            </a:avLst>
          </a:prstGeom>
          <a:solidFill>
            <a:srgbClr val="EEEDF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481328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Iyer · SME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85632" y="1810512"/>
            <a:ext cx="33284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49640" y="20116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NOS-level coverage checks with evidence chunk IDs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courses not declared for a QP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Bloom-tagged item drafts — pending SME sign-off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Content-quality gate per RFP 4.B.8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console: /substrate-demo — login, chat, analytics, drafts, audit trail with chain-verification badge, version registry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you can inspect, not trust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EF2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48132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audit chain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5157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refusal, draft &amp; decision — hash-chained, Ed25519-signed, daily Merkle roots. Tampering breaks a live 'chain verified' badge.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EF2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08152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by construction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410712"/>
            <a:ext cx="5157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Purpose-bound, time-bound, revocable tokens on every call; DPDP-aligned lineage from source register to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EF2F8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68172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versioning (4.B.1c)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5010912"/>
            <a:ext cx="5157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index manifests + hashed KG releases; every answer names the exact index state that produced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1F5E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48132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SAICR change gate (4.B.11d)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1810512"/>
            <a:ext cx="5157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model/index/prompt change ships without a gold-set run. Hard blocks: citations &lt;100% or RBAC &lt;100% = no deploy.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1F5E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08152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 learner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3410712"/>
            <a:ext cx="5157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physically rejects non-synthetic learner IDs; analytics serve aggregates only; PII harvests refused &amp; logged.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457200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1F5EE"/>
          </a:solidFill>
          <a:ln w="9525">
            <a:solidFill>
              <a:srgbClr val="DF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68172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by default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5010912"/>
            <a:ext cx="5157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Sarvam-primary model layer; India-resident data plan; zero-egress offline mode demonstrated live.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compliance — 27 requirements traced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15544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in PoC (code + tests + measurements)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17720" y="15544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09160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— pattern documented / code-complete pending infra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46720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mapped to Q1–Y3 milestone calendar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matrix accompanies the bid: RFP §4.B ref → requirement → implementation → KPI → status → evidence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 B requirement unaddressed; every 'planned' row anchored to the RFP's own milestone quarters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Six-document proposal pack: architecture blueprint (Q1 deliverable draft), model &amp; system card, SAICR process, DPDP design note, evaluation report, compliance matrix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codebase is the delivery seed — Q1 to Q6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DPDP hardening · architecture blueprint · model forking · event schema live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22860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v1 + super-taxonomies · corpora v1 · Graph-RAG production · VC migration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Mentor Beta (12 langs) · Officer Copilot Beta · first LoRA adapters · voice Beta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0" y="15544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Q4–Q6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509760" y="22860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22 languages · Skill Passport v1 · predictive surfaces · orchestration · foundation acceptance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stay identical at every scale: SQLite→ClickHouse, file log→Kafka, JWT→Keycloak, mock→Sarvam-105B — stores swap, guarantees don't.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substrate is the bid.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are cheap once answers are governed.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40233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PoC: demoable offline, 20-minute scripted walkthrough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100% citations · 100% adversarial refusal · signed audit</a:t>
            </a:r>
            <a:endParaRPr lang="en-US" sz="16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Sovereign: Sarvam-native platform already hardened by this team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SIDH Part B · Sovereign AI Substrate PoC · pre-bid draft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2026-07-19T08:26:08Z</dcterms:created>
  <dcterms:modified xsi:type="dcterms:W3CDTF">2026-07-19T08:26:08Z</dcterms:modified>
</cp:coreProperties>
</file>